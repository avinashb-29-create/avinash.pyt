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95" r:id="rId1"/>
  </p:sldMasterIdLst>
  <p:notesMasterIdLst>
    <p:notesMasterId r:id="rId10"/>
  </p:notes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 type="screen16x9"/>
  <p:notesSz cx="5143500" cy="9144000"/>
  <p:embeddedFontLst>
    <p:embeddedFont>
      <p:font typeface="Arial Black" panose="020B0A04020102020204" pitchFamily="34" charset="0"/>
      <p:bold r:id="rId11"/>
    </p:embeddedFont>
    <p:embeddedFont>
      <p:font typeface="Century Gothic" panose="020B0502020202020204" pitchFamily="34" charset="0"/>
      <p:regular r:id="rId12"/>
      <p:bold r:id="rId13"/>
      <p:italic r:id="rId14"/>
      <p:boldItalic r:id="rId15"/>
    </p:embeddedFon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Fira Sans" panose="020B0503050000020004" pitchFamily="34" charset="0"/>
      <p:regular r:id="rId20"/>
      <p:bold r:id="rId21"/>
      <p:italic r:id="rId22"/>
      <p:boldItalic r:id="rId23"/>
    </p:embeddedFont>
    <p:embeddedFont>
      <p:font typeface="Inconsolata Bold" pitchFamily="1" charset="0"/>
      <p:regular r:id="rId24"/>
      <p:bold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64DB3E-A421-F11E-9304-B84C2FE72649}" v="1" dt="2026-05-20T16:29:04.9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9950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457201"/>
            <a:ext cx="6507167" cy="2400300"/>
          </a:xfrm>
        </p:spPr>
        <p:txBody>
          <a:bodyPr anchor="b">
            <a:normAutofit/>
          </a:bodyPr>
          <a:lstStyle>
            <a:lvl1pPr algn="ctr">
              <a:defRPr sz="36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2914650"/>
            <a:ext cx="6507167" cy="1428750"/>
          </a:xfrm>
        </p:spPr>
        <p:txBody>
          <a:bodyPr anchor="t">
            <a:normAutofit/>
          </a:bodyPr>
          <a:lstStyle>
            <a:lvl1pPr marL="0" indent="0" algn="ctr">
              <a:buNone/>
              <a:defRPr sz="1575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78794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74270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3260" y="2481436"/>
            <a:ext cx="6515100" cy="1101600"/>
          </a:xfrm>
        </p:spPr>
        <p:txBody>
          <a:bodyPr anchor="b"/>
          <a:lstStyle>
            <a:lvl1pPr algn="r">
              <a:defRPr sz="30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3259" y="3583036"/>
            <a:ext cx="6515101" cy="645300"/>
          </a:xfrm>
        </p:spPr>
        <p:txBody>
          <a:bodyPr anchor="t">
            <a:normAutofit/>
          </a:bodyPr>
          <a:lstStyle>
            <a:lvl1pPr marL="0" indent="0" algn="r">
              <a:buNone/>
              <a:defRPr sz="15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9618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9" y="2000250"/>
            <a:ext cx="3657600" cy="2343151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7959" y="2000250"/>
            <a:ext cx="3657600" cy="2343150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95733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1961" y="1993900"/>
            <a:ext cx="3441698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9" y="2432447"/>
            <a:ext cx="3657600" cy="1910953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32350" y="2000250"/>
            <a:ext cx="3453210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7959" y="2432447"/>
            <a:ext cx="3657601" cy="1910953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36904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14022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50828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1200150"/>
            <a:ext cx="2661841" cy="10287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7859" y="457201"/>
            <a:ext cx="4457701" cy="38862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28850"/>
            <a:ext cx="2661841" cy="13716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87264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1200150"/>
            <a:ext cx="4000501" cy="102870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75300" y="-13716"/>
            <a:ext cx="2457449" cy="517779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28850"/>
            <a:ext cx="4000501" cy="1371600"/>
          </a:xfrm>
        </p:spPr>
        <p:txBody>
          <a:bodyPr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99409" y="4412457"/>
            <a:ext cx="685800" cy="273844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56059" y="4412457"/>
            <a:ext cx="382905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56960" y="4412457"/>
            <a:ext cx="241925" cy="273844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61575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3549649"/>
            <a:ext cx="7429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84709" y="699084"/>
            <a:ext cx="6169458" cy="237373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60" y="3974702"/>
            <a:ext cx="7429500" cy="370284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41015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57201"/>
            <a:ext cx="7429499" cy="2343149"/>
          </a:xfrm>
        </p:spPr>
        <p:txBody>
          <a:bodyPr anchor="ctr">
            <a:normAutofit/>
          </a:bodyPr>
          <a:lstStyle>
            <a:lvl1pPr algn="l">
              <a:defRPr sz="24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257550"/>
            <a:ext cx="7429500" cy="108585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22188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627459" y="590118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8359" y="205740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457201"/>
            <a:ext cx="6972299" cy="2057399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109" y="2514600"/>
            <a:ext cx="6629402" cy="28575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257550"/>
            <a:ext cx="7429500" cy="108585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15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08025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2481436"/>
            <a:ext cx="7429500" cy="1101600"/>
          </a:xfrm>
        </p:spPr>
        <p:txBody>
          <a:bodyPr anchor="b">
            <a:normAutofit/>
          </a:bodyPr>
          <a:lstStyle>
            <a:lvl1pPr algn="l">
              <a:defRPr sz="24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583036"/>
            <a:ext cx="7429501" cy="6453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5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46314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627459" y="590118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8359" y="205740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457201"/>
            <a:ext cx="6972299" cy="2057399"/>
          </a:xfrm>
        </p:spPr>
        <p:txBody>
          <a:bodyPr anchor="ctr">
            <a:normAutofit/>
          </a:bodyPr>
          <a:lstStyle>
            <a:lvl1pPr algn="l">
              <a:defRPr sz="24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56059" y="2914650"/>
            <a:ext cx="7429500" cy="6667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581400"/>
            <a:ext cx="7429500" cy="7620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93423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57201"/>
            <a:ext cx="7429499" cy="20573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56059" y="2628900"/>
            <a:ext cx="7429500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1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257550"/>
            <a:ext cx="7429500" cy="10858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49880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68802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7673" y="457200"/>
            <a:ext cx="1657886" cy="3886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9" y="457200"/>
            <a:ext cx="5657850" cy="38862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16703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73602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21278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9930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94432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86293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25382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048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000250"/>
            <a:ext cx="7429499" cy="2343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28209" y="4412457"/>
            <a:ext cx="12001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4412457"/>
            <a:ext cx="5657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10" y="4412457"/>
            <a:ext cx="4133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0018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801" r:id="rId6"/>
    <p:sldLayoutId id="2147483802" r:id="rId7"/>
    <p:sldLayoutId id="2147483803" r:id="rId8"/>
    <p:sldLayoutId id="2147483804" r:id="rId9"/>
    <p:sldLayoutId id="2147483805" r:id="rId10"/>
    <p:sldLayoutId id="2147483806" r:id="rId11"/>
    <p:sldLayoutId id="2147483807" r:id="rId12"/>
    <p:sldLayoutId id="2147483808" r:id="rId13"/>
    <p:sldLayoutId id="2147483809" r:id="rId14"/>
    <p:sldLayoutId id="2147483810" r:id="rId15"/>
    <p:sldLayoutId id="2147483811" r:id="rId16"/>
    <p:sldLayoutId id="2147483812" r:id="rId17"/>
    <p:sldLayoutId id="2147483813" r:id="rId18"/>
    <p:sldLayoutId id="2147483814" r:id="rId19"/>
    <p:sldLayoutId id="2147483815" r:id="rId20"/>
    <p:sldLayoutId id="2147483816" r:id="rId21"/>
    <p:sldLayoutId id="2147483817" r:id="rId22"/>
    <p:sldLayoutId id="2147483818" r:id="rId23"/>
    <p:sldLayoutId id="2147483819" r:id="rId24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4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5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35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05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05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9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9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9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9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B3D6CE-E331-A34B-7D4E-531DFBD47076}"/>
              </a:ext>
            </a:extLst>
          </p:cNvPr>
          <p:cNvSpPr txBox="1"/>
          <p:nvPr/>
        </p:nvSpPr>
        <p:spPr>
          <a:xfrm>
            <a:off x="568569" y="1395045"/>
            <a:ext cx="5943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latin typeface="Arial Black" panose="020B0A04020102020204" pitchFamily="34" charset="0"/>
              </a:rPr>
              <a:t> PROJECT NAME : SNAKE  GAME</a:t>
            </a:r>
          </a:p>
          <a:p>
            <a:endParaRPr lang="en-IN" b="1">
              <a:latin typeface="Arial Black" panose="020B0A04020102020204" pitchFamily="34" charset="0"/>
            </a:endParaRPr>
          </a:p>
          <a:p>
            <a:r>
              <a:rPr lang="en-IN" b="1">
                <a:latin typeface="Arial Black" panose="020B0A04020102020204" pitchFamily="34" charset="0"/>
              </a:rPr>
              <a:t>CONTRIBUTERS</a:t>
            </a:r>
          </a:p>
          <a:p>
            <a:r>
              <a:rPr lang="en-IN" b="1">
                <a:latin typeface="Arial Black" panose="020B0A04020102020204" pitchFamily="34" charset="0"/>
              </a:rPr>
              <a:t> </a:t>
            </a:r>
          </a:p>
          <a:p>
            <a:pPr marL="342900" indent="-342900">
              <a:buAutoNum type="arabicPeriod"/>
            </a:pPr>
            <a:r>
              <a:rPr lang="en-IN" b="1">
                <a:latin typeface="Arial Black" panose="020B0A04020102020204" pitchFamily="34" charset="0"/>
              </a:rPr>
              <a:t>R.SIVANJITH REDDY</a:t>
            </a:r>
          </a:p>
          <a:p>
            <a:pPr marL="342900" indent="-342900">
              <a:buAutoNum type="arabicPeriod"/>
            </a:pPr>
            <a:r>
              <a:rPr lang="en-IN" b="1">
                <a:latin typeface="Arial Black" panose="020B0A04020102020204" pitchFamily="34" charset="0"/>
              </a:rPr>
              <a:t>B.AVINASH</a:t>
            </a:r>
          </a:p>
          <a:p>
            <a:pPr marL="342900" indent="-342900">
              <a:buAutoNum type="arabicPeriod"/>
            </a:pPr>
            <a:r>
              <a:rPr lang="en-IN" b="1">
                <a:latin typeface="Arial Black" panose="020B0A04020102020204" pitchFamily="34" charset="0"/>
              </a:rPr>
              <a:t>V.TIRUMALA</a:t>
            </a:r>
          </a:p>
        </p:txBody>
      </p:sp>
    </p:spTree>
    <p:extLst>
      <p:ext uri="{BB962C8B-B14F-4D97-AF65-F5344CB8AC3E}">
        <p14:creationId xmlns:p14="http://schemas.microsoft.com/office/powerpoint/2010/main" val="1159394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96864"/>
            <a:ext cx="4178275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Building Snake in Pygame</a:t>
            </a:r>
            <a:endParaRPr lang="en-US" sz="2400"/>
          </a:p>
        </p:txBody>
      </p:sp>
      <p:sp>
        <p:nvSpPr>
          <p:cNvPr id="4" name="Text 1"/>
          <p:cNvSpPr/>
          <p:nvPr/>
        </p:nvSpPr>
        <p:spPr>
          <a:xfrm>
            <a:off x="3925119" y="2270447"/>
            <a:ext cx="472276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 step-by-step walkthrough of a classic arcade game built entirely in Python. This presentation breaks down a working Snake game — from initialising the display to detecting collisions — so you can understand every line of code and build on it yourself.</a:t>
            </a:r>
            <a:endParaRPr lang="en-US" sz="950"/>
          </a:p>
        </p:txBody>
      </p:sp>
      <p:sp>
        <p:nvSpPr>
          <p:cNvPr id="5" name="Shape 2"/>
          <p:cNvSpPr/>
          <p:nvPr/>
        </p:nvSpPr>
        <p:spPr>
          <a:xfrm>
            <a:off x="3925119" y="3208586"/>
            <a:ext cx="1045443" cy="233214"/>
          </a:xfrm>
          <a:prstGeom prst="roundRect">
            <a:avLst>
              <a:gd name="adj" fmla="val 6383"/>
            </a:avLst>
          </a:prstGeom>
          <a:solidFill>
            <a:srgbClr val="4A022B"/>
          </a:solidFill>
          <a:ln/>
        </p:spPr>
      </p:sp>
      <p:sp>
        <p:nvSpPr>
          <p:cNvPr id="6" name="Text 3"/>
          <p:cNvSpPr/>
          <p:nvPr/>
        </p:nvSpPr>
        <p:spPr>
          <a:xfrm>
            <a:off x="3999533" y="3245793"/>
            <a:ext cx="1353815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BEGINNER FRIENDLY</a:t>
            </a:r>
            <a:endParaRPr lang="en-US" sz="750"/>
          </a:p>
        </p:txBody>
      </p:sp>
      <p:sp>
        <p:nvSpPr>
          <p:cNvPr id="7" name="Shape 4"/>
          <p:cNvSpPr/>
          <p:nvPr/>
        </p:nvSpPr>
        <p:spPr>
          <a:xfrm>
            <a:off x="5032549" y="3203823"/>
            <a:ext cx="513531" cy="242739"/>
          </a:xfrm>
          <a:prstGeom prst="roundRect">
            <a:avLst>
              <a:gd name="adj" fmla="val 6132"/>
            </a:avLst>
          </a:prstGeom>
          <a:noFill/>
          <a:ln w="4763">
            <a:solidFill>
              <a:srgbClr val="F94CA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11725" y="3245793"/>
            <a:ext cx="812378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PYGAME</a:t>
            </a:r>
            <a:endParaRPr lang="en-US" sz="750"/>
          </a:p>
        </p:txBody>
      </p:sp>
      <p:sp>
        <p:nvSpPr>
          <p:cNvPr id="9" name="Shape 6"/>
          <p:cNvSpPr/>
          <p:nvPr/>
        </p:nvSpPr>
        <p:spPr>
          <a:xfrm>
            <a:off x="5608067" y="3203823"/>
            <a:ext cx="522015" cy="242739"/>
          </a:xfrm>
          <a:prstGeom prst="roundRect">
            <a:avLst>
              <a:gd name="adj" fmla="val 6132"/>
            </a:avLst>
          </a:prstGeom>
          <a:noFill/>
          <a:ln w="4763">
            <a:solidFill>
              <a:srgbClr val="F94CA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87244" y="3245793"/>
            <a:ext cx="820862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PYTHON</a:t>
            </a:r>
            <a:endParaRPr lang="en-US" sz="7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303684"/>
            <a:ext cx="4179763" cy="320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Project Structure at a Glance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521643" y="794742"/>
            <a:ext cx="8557840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Before diving into the details, here is the high-level architecture of the game. Every Snake game needs these four core components working together in a continuous loop.</a:t>
            </a:r>
            <a:endParaRPr lang="en-US" sz="8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43" y="1040606"/>
            <a:ext cx="8100640" cy="35533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8004" y="3672886"/>
            <a:ext cx="1452891" cy="21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Handle Events</a:t>
            </a:r>
            <a:endParaRPr lang="en-US" sz="1350"/>
          </a:p>
        </p:txBody>
      </p:sp>
      <p:sp>
        <p:nvSpPr>
          <p:cNvPr id="6" name="Text 3"/>
          <p:cNvSpPr/>
          <p:nvPr/>
        </p:nvSpPr>
        <p:spPr>
          <a:xfrm>
            <a:off x="2976604" y="3954450"/>
            <a:ext cx="1224291" cy="320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Process input and quit events</a:t>
            </a:r>
            <a:endParaRPr lang="en-US" sz="1100"/>
          </a:p>
        </p:txBody>
      </p:sp>
      <p:sp>
        <p:nvSpPr>
          <p:cNvPr id="7" name="Text 4"/>
          <p:cNvSpPr/>
          <p:nvPr/>
        </p:nvSpPr>
        <p:spPr>
          <a:xfrm>
            <a:off x="6637286" y="3672886"/>
            <a:ext cx="1452891" cy="21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Draw Frame</a:t>
            </a:r>
            <a:endParaRPr lang="en-US" sz="1350"/>
          </a:p>
        </p:txBody>
      </p:sp>
      <p:sp>
        <p:nvSpPr>
          <p:cNvPr id="8" name="Text 5"/>
          <p:cNvSpPr/>
          <p:nvPr/>
        </p:nvSpPr>
        <p:spPr>
          <a:xfrm>
            <a:off x="6865886" y="3954450"/>
            <a:ext cx="1224291" cy="320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Clear screen and render snake/food</a:t>
            </a:r>
            <a:endParaRPr lang="en-US" sz="1100"/>
          </a:p>
        </p:txBody>
      </p:sp>
      <p:sp>
        <p:nvSpPr>
          <p:cNvPr id="9" name="Text 6"/>
          <p:cNvSpPr/>
          <p:nvPr/>
        </p:nvSpPr>
        <p:spPr>
          <a:xfrm>
            <a:off x="846231" y="1359971"/>
            <a:ext cx="1452891" cy="21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Initialise</a:t>
            </a:r>
            <a:endParaRPr lang="en-US" sz="1350"/>
          </a:p>
        </p:txBody>
      </p:sp>
      <p:sp>
        <p:nvSpPr>
          <p:cNvPr id="10" name="Text 7"/>
          <p:cNvSpPr/>
          <p:nvPr/>
        </p:nvSpPr>
        <p:spPr>
          <a:xfrm>
            <a:off x="1074831" y="1641535"/>
            <a:ext cx="1224291" cy="320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Set up Pygame, screen, colors, vars</a:t>
            </a:r>
            <a:endParaRPr lang="en-US" sz="1100"/>
          </a:p>
        </p:txBody>
      </p:sp>
      <p:sp>
        <p:nvSpPr>
          <p:cNvPr id="11" name="Text 8"/>
          <p:cNvSpPr/>
          <p:nvPr/>
        </p:nvSpPr>
        <p:spPr>
          <a:xfrm>
            <a:off x="4719925" y="1359971"/>
            <a:ext cx="1452891" cy="21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Update State</a:t>
            </a:r>
            <a:endParaRPr lang="en-US" sz="1350"/>
          </a:p>
        </p:txBody>
      </p:sp>
      <p:sp>
        <p:nvSpPr>
          <p:cNvPr id="12" name="Text 9"/>
          <p:cNvSpPr/>
          <p:nvPr/>
        </p:nvSpPr>
        <p:spPr>
          <a:xfrm>
            <a:off x="4948525" y="1641535"/>
            <a:ext cx="1224291" cy="320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Move snake, check collisions, eat</a:t>
            </a:r>
            <a:endParaRPr lang="en-US" sz="1100"/>
          </a:p>
        </p:txBody>
      </p:sp>
      <p:sp>
        <p:nvSpPr>
          <p:cNvPr id="13" name="Text 10"/>
          <p:cNvSpPr/>
          <p:nvPr/>
        </p:nvSpPr>
        <p:spPr>
          <a:xfrm>
            <a:off x="521643" y="4689649"/>
            <a:ext cx="8557840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Understanding this loop is the key to reading any Pygame project. All the logic you'll see in this walkthrough fits neatly into one of these four phases.</a:t>
            </a:r>
            <a:endParaRPr lang="en-US"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1004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Setting Up Pygame</a:t>
            </a:r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496119" y="1468562"/>
            <a:ext cx="231725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Initialisation &amp; Display</a:t>
            </a:r>
            <a:endParaRPr lang="en-US" sz="1200"/>
          </a:p>
        </p:txBody>
      </p:sp>
      <p:sp>
        <p:nvSpPr>
          <p:cNvPr id="4" name="Shape 2"/>
          <p:cNvSpPr/>
          <p:nvPr/>
        </p:nvSpPr>
        <p:spPr>
          <a:xfrm>
            <a:off x="496119" y="1801937"/>
            <a:ext cx="4347270" cy="2431033"/>
          </a:xfrm>
          <a:prstGeom prst="roundRect">
            <a:avLst>
              <a:gd name="adj" fmla="val 765"/>
            </a:avLst>
          </a:prstGeom>
          <a:solidFill>
            <a:srgbClr val="31233E"/>
          </a:solidFill>
          <a:ln/>
        </p:spPr>
      </p:sp>
      <p:sp>
        <p:nvSpPr>
          <p:cNvPr id="5" name="Shape 3"/>
          <p:cNvSpPr/>
          <p:nvPr/>
        </p:nvSpPr>
        <p:spPr>
          <a:xfrm>
            <a:off x="489942" y="1801937"/>
            <a:ext cx="4359622" cy="2431033"/>
          </a:xfrm>
          <a:prstGeom prst="roundRect">
            <a:avLst>
              <a:gd name="adj" fmla="val 765"/>
            </a:avLst>
          </a:prstGeom>
          <a:solidFill>
            <a:srgbClr val="31233E"/>
          </a:solidFill>
          <a:ln/>
        </p:spPr>
      </p:sp>
      <p:sp>
        <p:nvSpPr>
          <p:cNvPr id="6" name="Text 4"/>
          <p:cNvSpPr/>
          <p:nvPr/>
        </p:nvSpPr>
        <p:spPr>
          <a:xfrm>
            <a:off x="644947" y="1925910"/>
            <a:ext cx="4049613" cy="2183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DAD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pygame</a:t>
            </a:r>
            <a:endParaRPr lang="en-US" sz="95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DAD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random</a:t>
            </a:r>
            <a:endParaRPr lang="en-US" sz="950"/>
          </a:p>
          <a:p>
            <a:pPr marL="0" indent="0" algn="l">
              <a:lnSpc>
                <a:spcPct val="133000"/>
              </a:lnSpc>
              <a:buNone/>
            </a:pPr>
            <a:endParaRPr lang="en-US" sz="95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DAD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pygame.init()</a:t>
            </a:r>
            <a:endParaRPr lang="en-US" sz="950"/>
          </a:p>
          <a:p>
            <a:pPr marL="0" indent="0" algn="l">
              <a:lnSpc>
                <a:spcPct val="133000"/>
              </a:lnSpc>
              <a:buNone/>
            </a:pPr>
            <a:endParaRPr lang="en-US" sz="95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DAD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width, height = 600, 400</a:t>
            </a:r>
            <a:endParaRPr lang="en-US" sz="95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DAD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 = pygame.display.set_mode((width, height))</a:t>
            </a:r>
            <a:endParaRPr lang="en-US" sz="95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DAD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pygame.display.set_caption("Simple Snake")</a:t>
            </a:r>
            <a:endParaRPr lang="en-US" sz="950"/>
          </a:p>
          <a:p>
            <a:pPr marL="0" indent="0" algn="l">
              <a:lnSpc>
                <a:spcPct val="133000"/>
              </a:lnSpc>
              <a:buNone/>
            </a:pPr>
            <a:endParaRPr lang="en-US" sz="95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DAD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snake_block = 10</a:t>
            </a:r>
            <a:endParaRPr lang="en-US" sz="95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DAD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clock = pygame.time.Clock()</a:t>
            </a:r>
            <a:endParaRPr lang="en-US" sz="950"/>
          </a:p>
        </p:txBody>
      </p:sp>
      <p:sp>
        <p:nvSpPr>
          <p:cNvPr id="7" name="Shape 5"/>
          <p:cNvSpPr/>
          <p:nvPr/>
        </p:nvSpPr>
        <p:spPr>
          <a:xfrm>
            <a:off x="5061421" y="1344588"/>
            <a:ext cx="3680445" cy="3027908"/>
          </a:xfrm>
          <a:prstGeom prst="roundRect">
            <a:avLst>
              <a:gd name="adj" fmla="val 615"/>
            </a:avLst>
          </a:prstGeom>
          <a:solidFill>
            <a:srgbClr val="F94CAF"/>
          </a:solidFill>
          <a:ln/>
        </p:spPr>
      </p:sp>
      <p:sp>
        <p:nvSpPr>
          <p:cNvPr id="8" name="Text 6"/>
          <p:cNvSpPr/>
          <p:nvPr/>
        </p:nvSpPr>
        <p:spPr>
          <a:xfrm>
            <a:off x="5185395" y="1468562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What each line does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5185395" y="1786384"/>
            <a:ext cx="3432497" cy="1562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b="1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pygame.init()</a:t>
            </a:r>
            <a:r>
              <a:rPr lang="en-US" sz="95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— starts all Pygame modules before anything else</a:t>
            </a:r>
            <a:endParaRPr lang="en-US" sz="95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b="1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set_mode()</a:t>
            </a:r>
            <a:r>
              <a:rPr lang="en-US" sz="95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— creates a 600×400 pixel window</a:t>
            </a:r>
            <a:endParaRPr lang="en-US" sz="95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b="1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set_caption()</a:t>
            </a:r>
            <a:r>
              <a:rPr lang="en-US" sz="95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— sets the window title bar text</a:t>
            </a:r>
            <a:endParaRPr lang="en-US" sz="95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b="1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snake_block = 10</a:t>
            </a:r>
            <a:r>
              <a:rPr lang="en-US" sz="95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— every game element is a 10×10 pixel square</a:t>
            </a:r>
            <a:endParaRPr lang="en-US" sz="95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b="1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Clock()</a:t>
            </a:r>
            <a:r>
              <a:rPr lang="en-US" sz="95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— controls how fast the game loop runs</a:t>
            </a:r>
            <a:endParaRPr lang="en-US" sz="9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61430"/>
            <a:ext cx="386819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Snake &amp; Food Variables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496119" y="1597000"/>
            <a:ext cx="2634555" cy="2585070"/>
          </a:xfrm>
          <a:prstGeom prst="roundRect">
            <a:avLst>
              <a:gd name="adj" fmla="val 720"/>
            </a:avLst>
          </a:prstGeom>
          <a:solidFill>
            <a:srgbClr val="241631"/>
          </a:solidFill>
          <a:ln w="14288">
            <a:solidFill>
              <a:srgbClr val="5C4E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4380" y="1735262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Snake Position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634380" y="2068637"/>
            <a:ext cx="2358033" cy="1041797"/>
          </a:xfrm>
          <a:prstGeom prst="roundRect">
            <a:avLst>
              <a:gd name="adj" fmla="val 1786"/>
            </a:avLst>
          </a:prstGeom>
          <a:solidFill>
            <a:srgbClr val="31233E"/>
          </a:solidFill>
          <a:ln/>
        </p:spPr>
      </p:sp>
      <p:sp>
        <p:nvSpPr>
          <p:cNvPr id="6" name="Shape 4"/>
          <p:cNvSpPr/>
          <p:nvPr/>
        </p:nvSpPr>
        <p:spPr>
          <a:xfrm>
            <a:off x="628204" y="2068637"/>
            <a:ext cx="2370386" cy="1041797"/>
          </a:xfrm>
          <a:prstGeom prst="roundRect">
            <a:avLst>
              <a:gd name="adj" fmla="val 1786"/>
            </a:avLst>
          </a:prstGeom>
          <a:solidFill>
            <a:srgbClr val="31233E"/>
          </a:solidFill>
          <a:ln/>
        </p:spPr>
      </p:sp>
      <p:sp>
        <p:nvSpPr>
          <p:cNvPr id="7" name="Text 5"/>
          <p:cNvSpPr/>
          <p:nvPr/>
        </p:nvSpPr>
        <p:spPr>
          <a:xfrm>
            <a:off x="783208" y="2192610"/>
            <a:ext cx="206037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79C0FF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 = width // 2</a:t>
            </a:r>
            <a:endParaRPr lang="en-US" sz="95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79C0FF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y = height // 2</a:t>
            </a:r>
            <a:endParaRPr lang="en-US" sz="95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79C0FF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dx = 0</a:t>
            </a:r>
            <a:endParaRPr lang="en-US" sz="95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79C0FF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dy = 0</a:t>
            </a:r>
            <a:endParaRPr lang="en-US" sz="950"/>
          </a:p>
        </p:txBody>
      </p:sp>
      <p:sp>
        <p:nvSpPr>
          <p:cNvPr id="8" name="Text 6"/>
          <p:cNvSpPr/>
          <p:nvPr/>
        </p:nvSpPr>
        <p:spPr>
          <a:xfrm>
            <a:off x="634380" y="3249960"/>
            <a:ext cx="235803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snake starts at the centre of the screen. </a:t>
            </a:r>
            <a:r>
              <a:rPr lang="en-US" sz="950" b="1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dx</a:t>
            </a:r>
            <a:r>
              <a:rPr lang="en-US" sz="95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and </a:t>
            </a:r>
            <a:r>
              <a:rPr lang="en-US" sz="950" b="1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dy</a:t>
            </a:r>
            <a:r>
              <a:rPr lang="en-US" sz="95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hold the movement direction — both start at zero so the snake is still until a key is pressed.</a:t>
            </a:r>
            <a:endParaRPr lang="en-US" sz="950"/>
          </a:p>
        </p:txBody>
      </p:sp>
      <p:sp>
        <p:nvSpPr>
          <p:cNvPr id="9" name="Shape 7"/>
          <p:cNvSpPr/>
          <p:nvPr/>
        </p:nvSpPr>
        <p:spPr>
          <a:xfrm>
            <a:off x="3254648" y="1597000"/>
            <a:ext cx="2634630" cy="2585070"/>
          </a:xfrm>
          <a:prstGeom prst="roundRect">
            <a:avLst>
              <a:gd name="adj" fmla="val 720"/>
            </a:avLst>
          </a:prstGeom>
          <a:solidFill>
            <a:srgbClr val="241631"/>
          </a:solidFill>
          <a:ln w="14288">
            <a:solidFill>
              <a:srgbClr val="5C4E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92909" y="1735262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Snake Body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3392909" y="2068637"/>
            <a:ext cx="2358107" cy="644872"/>
          </a:xfrm>
          <a:prstGeom prst="roundRect">
            <a:avLst>
              <a:gd name="adj" fmla="val 2885"/>
            </a:avLst>
          </a:prstGeom>
          <a:solidFill>
            <a:srgbClr val="31233E"/>
          </a:solidFill>
          <a:ln/>
        </p:spPr>
      </p:sp>
      <p:sp>
        <p:nvSpPr>
          <p:cNvPr id="12" name="Shape 10"/>
          <p:cNvSpPr/>
          <p:nvPr/>
        </p:nvSpPr>
        <p:spPr>
          <a:xfrm>
            <a:off x="3386733" y="2068637"/>
            <a:ext cx="2370460" cy="644872"/>
          </a:xfrm>
          <a:prstGeom prst="roundRect">
            <a:avLst>
              <a:gd name="adj" fmla="val 2885"/>
            </a:avLst>
          </a:prstGeom>
          <a:solidFill>
            <a:srgbClr val="31233E"/>
          </a:solidFill>
          <a:ln/>
        </p:spPr>
      </p:sp>
      <p:sp>
        <p:nvSpPr>
          <p:cNvPr id="13" name="Text 11"/>
          <p:cNvSpPr/>
          <p:nvPr/>
        </p:nvSpPr>
        <p:spPr>
          <a:xfrm>
            <a:off x="3541737" y="2192610"/>
            <a:ext cx="2060451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DAD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snake = [[x, y]]</a:t>
            </a:r>
            <a:endParaRPr lang="en-US" sz="95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DAD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 = 1</a:t>
            </a:r>
            <a:endParaRPr lang="en-US" sz="950"/>
          </a:p>
        </p:txBody>
      </p:sp>
      <p:sp>
        <p:nvSpPr>
          <p:cNvPr id="14" name="Text 12"/>
          <p:cNvSpPr/>
          <p:nvPr/>
        </p:nvSpPr>
        <p:spPr>
          <a:xfrm>
            <a:off x="3392909" y="2853035"/>
            <a:ext cx="235810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body is a </a:t>
            </a:r>
            <a:r>
              <a:rPr lang="en-US" sz="950" b="1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list of [x, y] pairs</a:t>
            </a:r>
            <a:r>
              <a:rPr lang="en-US" sz="95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 It starts with just the head. The </a:t>
            </a:r>
            <a:r>
              <a:rPr lang="en-US" sz="950" b="1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length</a:t>
            </a:r>
            <a:r>
              <a:rPr lang="en-US" sz="95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variable tracks how many segments to keep — it grows by 1 each time food is eaten.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6013252" y="1597000"/>
            <a:ext cx="2634555" cy="2585070"/>
          </a:xfrm>
          <a:prstGeom prst="roundRect">
            <a:avLst>
              <a:gd name="adj" fmla="val 720"/>
            </a:avLst>
          </a:prstGeom>
          <a:solidFill>
            <a:srgbClr val="241631"/>
          </a:solidFill>
          <a:ln w="14288">
            <a:solidFill>
              <a:srgbClr val="5C4E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51513" y="1735262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Food Placement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6151513" y="2068637"/>
            <a:ext cx="2358033" cy="1041797"/>
          </a:xfrm>
          <a:prstGeom prst="roundRect">
            <a:avLst>
              <a:gd name="adj" fmla="val 1786"/>
            </a:avLst>
          </a:prstGeom>
          <a:solidFill>
            <a:srgbClr val="31233E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5337" y="2068637"/>
            <a:ext cx="2370386" cy="1041797"/>
          </a:xfrm>
          <a:prstGeom prst="roundRect">
            <a:avLst>
              <a:gd name="adj" fmla="val 1786"/>
            </a:avLst>
          </a:prstGeom>
          <a:solidFill>
            <a:srgbClr val="31233E"/>
          </a:solidFill>
          <a:ln/>
        </p:spPr>
      </p:sp>
      <p:sp>
        <p:nvSpPr>
          <p:cNvPr id="19" name="Text 17"/>
          <p:cNvSpPr/>
          <p:nvPr/>
        </p:nvSpPr>
        <p:spPr>
          <a:xfrm>
            <a:off x="6300341" y="2192610"/>
            <a:ext cx="206037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DAD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foodx = random.randrange(</a:t>
            </a:r>
            <a:endParaRPr lang="en-US" sz="95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DAD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0, width, snake_block)</a:t>
            </a:r>
            <a:endParaRPr lang="en-US" sz="95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DAD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foody = random.randrange(</a:t>
            </a:r>
            <a:endParaRPr lang="en-US" sz="95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DAD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0, height, snake_block)</a:t>
            </a:r>
            <a:endParaRPr lang="en-US" sz="950"/>
          </a:p>
        </p:txBody>
      </p:sp>
      <p:sp>
        <p:nvSpPr>
          <p:cNvPr id="20" name="Text 18"/>
          <p:cNvSpPr/>
          <p:nvPr/>
        </p:nvSpPr>
        <p:spPr>
          <a:xfrm>
            <a:off x="6151513" y="3249960"/>
            <a:ext cx="235803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randrange</a:t>
            </a:r>
            <a:r>
              <a:rPr lang="en-US" sz="95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with a step of </a:t>
            </a:r>
            <a:r>
              <a:rPr lang="en-US" sz="950" b="1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snake_block</a:t>
            </a:r>
            <a:r>
              <a:rPr lang="en-US" sz="95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ensures food always lands on a grid-aligned square, so the snake can collide with it cleanly.</a:t>
            </a:r>
            <a:endParaRPr lang="en-US" sz="9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7171"/>
            <a:ext cx="557361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Handling Input &amp; Moving the Snake</a:t>
            </a:r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496119" y="1164729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Keyboard Events</a:t>
            </a:r>
            <a:endParaRPr lang="en-US" sz="1200"/>
          </a:p>
        </p:txBody>
      </p:sp>
      <p:sp>
        <p:nvSpPr>
          <p:cNvPr id="4" name="Shape 2"/>
          <p:cNvSpPr/>
          <p:nvPr/>
        </p:nvSpPr>
        <p:spPr>
          <a:xfrm>
            <a:off x="496119" y="1498104"/>
            <a:ext cx="3924598" cy="2629495"/>
          </a:xfrm>
          <a:prstGeom prst="roundRect">
            <a:avLst>
              <a:gd name="adj" fmla="val 708"/>
            </a:avLst>
          </a:prstGeom>
          <a:solidFill>
            <a:srgbClr val="31233E"/>
          </a:solidFill>
          <a:ln/>
        </p:spPr>
      </p:sp>
      <p:sp>
        <p:nvSpPr>
          <p:cNvPr id="5" name="Shape 3"/>
          <p:cNvSpPr/>
          <p:nvPr/>
        </p:nvSpPr>
        <p:spPr>
          <a:xfrm>
            <a:off x="489942" y="1498104"/>
            <a:ext cx="3936950" cy="2629495"/>
          </a:xfrm>
          <a:prstGeom prst="roundRect">
            <a:avLst>
              <a:gd name="adj" fmla="val 708"/>
            </a:avLst>
          </a:prstGeom>
          <a:solidFill>
            <a:srgbClr val="31233E"/>
          </a:solidFill>
          <a:ln/>
        </p:spPr>
      </p:sp>
      <p:sp>
        <p:nvSpPr>
          <p:cNvPr id="6" name="Text 4"/>
          <p:cNvSpPr/>
          <p:nvPr/>
        </p:nvSpPr>
        <p:spPr>
          <a:xfrm>
            <a:off x="644947" y="1622078"/>
            <a:ext cx="3626941" cy="2381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FF7B72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event in pygame.event.get():</a:t>
            </a:r>
            <a:endParaRPr lang="en-US" sz="95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FF7B72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if event.type == pygame.QUIT:</a:t>
            </a:r>
            <a:endParaRPr lang="en-US" sz="95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FF7B72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running = False</a:t>
            </a:r>
            <a:endParaRPr lang="en-US" sz="95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FF7B72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event.type == pygame.KEYDOWN:</a:t>
            </a:r>
            <a:endParaRPr lang="en-US" sz="95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FF7B72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event.key == pygame.K_LEFT:</a:t>
            </a:r>
            <a:endParaRPr lang="en-US" sz="95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FF7B72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dx, dy = -snake_block, 0</a:t>
            </a:r>
            <a:endParaRPr lang="en-US" sz="95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FF7B72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event.key == pygame.K_RIGHT:</a:t>
            </a:r>
            <a:endParaRPr lang="en-US" sz="95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FF7B72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dx, dy = snake_block, 0</a:t>
            </a:r>
            <a:endParaRPr lang="en-US" sz="95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FF7B72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event.key == pygame.K_UP:</a:t>
            </a:r>
            <a:endParaRPr lang="en-US" sz="95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FF7B72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dx, dy = 0, -snake_block</a:t>
            </a:r>
            <a:endParaRPr lang="en-US" sz="95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FF7B72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event.key == pygame.K_DOWN:</a:t>
            </a:r>
            <a:endParaRPr lang="en-US" sz="95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FF7B72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dx, dy = 0, snake_block</a:t>
            </a:r>
            <a:endParaRPr lang="en-US" sz="950"/>
          </a:p>
        </p:txBody>
      </p:sp>
      <p:sp>
        <p:nvSpPr>
          <p:cNvPr id="7" name="Text 5"/>
          <p:cNvSpPr/>
          <p:nvPr/>
        </p:nvSpPr>
        <p:spPr>
          <a:xfrm>
            <a:off x="4728046" y="1164729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Updating Position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4728046" y="1498104"/>
            <a:ext cx="3924598" cy="1438721"/>
          </a:xfrm>
          <a:prstGeom prst="roundRect">
            <a:avLst>
              <a:gd name="adj" fmla="val 1293"/>
            </a:avLst>
          </a:prstGeom>
          <a:solidFill>
            <a:srgbClr val="31233E"/>
          </a:solidFill>
          <a:ln/>
        </p:spPr>
      </p:sp>
      <p:sp>
        <p:nvSpPr>
          <p:cNvPr id="9" name="Shape 7"/>
          <p:cNvSpPr/>
          <p:nvPr/>
        </p:nvSpPr>
        <p:spPr>
          <a:xfrm>
            <a:off x="4721870" y="1498104"/>
            <a:ext cx="3936950" cy="1438721"/>
          </a:xfrm>
          <a:prstGeom prst="roundRect">
            <a:avLst>
              <a:gd name="adj" fmla="val 1293"/>
            </a:avLst>
          </a:prstGeom>
          <a:solidFill>
            <a:srgbClr val="31233E"/>
          </a:solidFill>
          <a:ln/>
        </p:spPr>
      </p:sp>
      <p:sp>
        <p:nvSpPr>
          <p:cNvPr id="10" name="Text 8"/>
          <p:cNvSpPr/>
          <p:nvPr/>
        </p:nvSpPr>
        <p:spPr>
          <a:xfrm>
            <a:off x="4876874" y="1622078"/>
            <a:ext cx="3626941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79C0FF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 += dx</a:t>
            </a:r>
            <a:endParaRPr lang="en-US" sz="95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79C0FF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y += dy</a:t>
            </a:r>
            <a:endParaRPr lang="en-US" sz="950"/>
          </a:p>
          <a:p>
            <a:pPr marL="0" indent="0" algn="l">
              <a:lnSpc>
                <a:spcPct val="133000"/>
              </a:lnSpc>
              <a:buNone/>
            </a:pPr>
            <a:endParaRPr lang="en-US" sz="95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79C0FF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snake.append([x, y])</a:t>
            </a:r>
            <a:endParaRPr lang="en-US" sz="95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79C0FF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len(snake) &gt; length:</a:t>
            </a:r>
            <a:endParaRPr lang="en-US" sz="95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79C0FF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snake.pop(0)</a:t>
            </a:r>
            <a:endParaRPr lang="en-US" sz="950"/>
          </a:p>
        </p:txBody>
      </p:sp>
      <p:sp>
        <p:nvSpPr>
          <p:cNvPr id="11" name="Text 9"/>
          <p:cNvSpPr/>
          <p:nvPr/>
        </p:nvSpPr>
        <p:spPr>
          <a:xfrm>
            <a:off x="4728046" y="3076352"/>
            <a:ext cx="392459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Each frame, the new head position is </a:t>
            </a:r>
            <a:r>
              <a:rPr lang="en-US" sz="950" b="1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appended</a:t>
            </a:r>
            <a:r>
              <a:rPr lang="en-US" sz="95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to the snake list. If the list is longer than </a:t>
            </a:r>
            <a:r>
              <a:rPr lang="en-US" sz="950" b="1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length</a:t>
            </a:r>
            <a:r>
              <a:rPr lang="en-US" sz="95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the oldest segment is removed with </a:t>
            </a:r>
            <a:r>
              <a:rPr lang="en-US" sz="950" b="1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pop(0)</a:t>
            </a:r>
            <a:r>
              <a:rPr lang="en-US" sz="95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 This is what creates the trailing body effect.</a:t>
            </a:r>
            <a:endParaRPr lang="en-US" sz="950"/>
          </a:p>
        </p:txBody>
      </p:sp>
      <p:sp>
        <p:nvSpPr>
          <p:cNvPr id="12" name="Shape 10"/>
          <p:cNvSpPr/>
          <p:nvPr/>
        </p:nvSpPr>
        <p:spPr>
          <a:xfrm>
            <a:off x="4728046" y="3811265"/>
            <a:ext cx="3924598" cy="725463"/>
          </a:xfrm>
          <a:prstGeom prst="roundRect">
            <a:avLst>
              <a:gd name="adj" fmla="val 2565"/>
            </a:avLst>
          </a:prstGeom>
          <a:solidFill>
            <a:srgbClr val="022349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020" y="3995812"/>
            <a:ext cx="155004" cy="12397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130998" y="3966195"/>
            <a:ext cx="339767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Note: in Pygame, the Y-axis is flipped — pressing </a:t>
            </a:r>
            <a:r>
              <a:rPr lang="en-US" sz="950" b="1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UP</a:t>
            </a:r>
            <a:r>
              <a:rPr lang="en-US" sz="95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decreases Y because (0, 0) is the top-left corner.</a:t>
            </a:r>
            <a:endParaRPr lang="en-US" sz="9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9233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Collision Detection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496119" y="1164803"/>
            <a:ext cx="2634555" cy="3449464"/>
          </a:xfrm>
          <a:prstGeom prst="roundRect">
            <a:avLst>
              <a:gd name="adj" fmla="val 706"/>
            </a:avLst>
          </a:prstGeom>
          <a:solidFill>
            <a:srgbClr val="433550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1288777"/>
            <a:ext cx="372070" cy="37207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412" y="1391022"/>
            <a:ext cx="167432" cy="1674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0092" y="1784821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Wall Collision</a:t>
            </a:r>
            <a:endParaRPr lang="en-US" sz="1200"/>
          </a:p>
        </p:txBody>
      </p:sp>
      <p:sp>
        <p:nvSpPr>
          <p:cNvPr id="7" name="Shape 3"/>
          <p:cNvSpPr/>
          <p:nvPr/>
        </p:nvSpPr>
        <p:spPr>
          <a:xfrm>
            <a:off x="620092" y="2118196"/>
            <a:ext cx="2386608" cy="843335"/>
          </a:xfrm>
          <a:prstGeom prst="roundRect">
            <a:avLst>
              <a:gd name="adj" fmla="val 2206"/>
            </a:avLst>
          </a:prstGeom>
          <a:solidFill>
            <a:srgbClr val="31233E"/>
          </a:solidFill>
          <a:ln/>
        </p:spPr>
      </p:sp>
      <p:sp>
        <p:nvSpPr>
          <p:cNvPr id="8" name="Shape 4"/>
          <p:cNvSpPr/>
          <p:nvPr/>
        </p:nvSpPr>
        <p:spPr>
          <a:xfrm>
            <a:off x="613916" y="2118196"/>
            <a:ext cx="2398961" cy="843335"/>
          </a:xfrm>
          <a:prstGeom prst="roundRect">
            <a:avLst>
              <a:gd name="adj" fmla="val 2206"/>
            </a:avLst>
          </a:prstGeom>
          <a:solidFill>
            <a:srgbClr val="31233E"/>
          </a:solidFill>
          <a:ln/>
        </p:spPr>
      </p:sp>
      <p:sp>
        <p:nvSpPr>
          <p:cNvPr id="9" name="Text 5"/>
          <p:cNvSpPr/>
          <p:nvPr/>
        </p:nvSpPr>
        <p:spPr>
          <a:xfrm>
            <a:off x="768921" y="2242170"/>
            <a:ext cx="208895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DAD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x &lt; 0 or x &gt;= width</a:t>
            </a:r>
            <a:endParaRPr lang="en-US" sz="95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DAD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or y &lt; 0 or y &gt;= height:</a:t>
            </a:r>
            <a:endParaRPr lang="en-US" sz="95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DAD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running = False</a:t>
            </a:r>
            <a:endParaRPr lang="en-US" sz="950"/>
          </a:p>
        </p:txBody>
      </p:sp>
      <p:sp>
        <p:nvSpPr>
          <p:cNvPr id="10" name="Text 6"/>
          <p:cNvSpPr/>
          <p:nvPr/>
        </p:nvSpPr>
        <p:spPr>
          <a:xfrm>
            <a:off x="620092" y="3101057"/>
            <a:ext cx="238660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If the head moves outside the screen boundaries, the game ends immediately. The </a:t>
            </a:r>
            <a:r>
              <a:rPr lang="en-US" sz="950" b="1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&gt;=</a:t>
            </a:r>
            <a:r>
              <a:rPr lang="en-US" sz="95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check catches the right and bottom edges correctly.</a:t>
            </a:r>
            <a:endParaRPr lang="en-US" sz="950"/>
          </a:p>
        </p:txBody>
      </p:sp>
      <p:sp>
        <p:nvSpPr>
          <p:cNvPr id="11" name="Shape 7"/>
          <p:cNvSpPr/>
          <p:nvPr/>
        </p:nvSpPr>
        <p:spPr>
          <a:xfrm>
            <a:off x="3254648" y="1164803"/>
            <a:ext cx="2634630" cy="3449464"/>
          </a:xfrm>
          <a:prstGeom prst="roundRect">
            <a:avLst>
              <a:gd name="adj" fmla="val 706"/>
            </a:avLst>
          </a:prstGeom>
          <a:solidFill>
            <a:srgbClr val="433550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622" y="1288777"/>
            <a:ext cx="372070" cy="372070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80941" y="1391022"/>
            <a:ext cx="167432" cy="1674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378622" y="1784821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Self Collision</a:t>
            </a:r>
            <a:endParaRPr lang="en-US" sz="1200"/>
          </a:p>
        </p:txBody>
      </p:sp>
      <p:sp>
        <p:nvSpPr>
          <p:cNvPr id="15" name="Shape 9"/>
          <p:cNvSpPr/>
          <p:nvPr/>
        </p:nvSpPr>
        <p:spPr>
          <a:xfrm>
            <a:off x="3378622" y="2118196"/>
            <a:ext cx="2386682" cy="644872"/>
          </a:xfrm>
          <a:prstGeom prst="roundRect">
            <a:avLst>
              <a:gd name="adj" fmla="val 2885"/>
            </a:avLst>
          </a:prstGeom>
          <a:solidFill>
            <a:srgbClr val="31233E"/>
          </a:solidFill>
          <a:ln/>
        </p:spPr>
      </p:sp>
      <p:sp>
        <p:nvSpPr>
          <p:cNvPr id="16" name="Shape 10"/>
          <p:cNvSpPr/>
          <p:nvPr/>
        </p:nvSpPr>
        <p:spPr>
          <a:xfrm>
            <a:off x="3372445" y="2118196"/>
            <a:ext cx="2399035" cy="644872"/>
          </a:xfrm>
          <a:prstGeom prst="roundRect">
            <a:avLst>
              <a:gd name="adj" fmla="val 2885"/>
            </a:avLst>
          </a:prstGeom>
          <a:solidFill>
            <a:srgbClr val="31233E"/>
          </a:solidFill>
          <a:ln/>
        </p:spPr>
      </p:sp>
      <p:sp>
        <p:nvSpPr>
          <p:cNvPr id="17" name="Text 11"/>
          <p:cNvSpPr/>
          <p:nvPr/>
        </p:nvSpPr>
        <p:spPr>
          <a:xfrm>
            <a:off x="3527450" y="2242170"/>
            <a:ext cx="2089026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DAD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[x, y] in snake[:-1]:</a:t>
            </a:r>
            <a:endParaRPr lang="en-US" sz="95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DAD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running = False</a:t>
            </a:r>
            <a:endParaRPr lang="en-US" sz="950"/>
          </a:p>
        </p:txBody>
      </p:sp>
      <p:sp>
        <p:nvSpPr>
          <p:cNvPr id="18" name="Text 12"/>
          <p:cNvSpPr/>
          <p:nvPr/>
        </p:nvSpPr>
        <p:spPr>
          <a:xfrm>
            <a:off x="3378622" y="2902595"/>
            <a:ext cx="2386682" cy="798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head's position is checked against all body segments </a:t>
            </a:r>
            <a:r>
              <a:rPr lang="en-US" sz="950" b="1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except the last one</a:t>
            </a:r>
            <a:r>
              <a:rPr lang="en-US" sz="95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(</a:t>
            </a:r>
            <a:r>
              <a:rPr lang="en-US" sz="95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snake[:-1]</a:t>
            </a:r>
            <a:r>
              <a:rPr lang="en-US" sz="95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). Without this slice, the head would always collide with itself.</a:t>
            </a:r>
            <a:endParaRPr lang="en-US" sz="950"/>
          </a:p>
        </p:txBody>
      </p:sp>
      <p:sp>
        <p:nvSpPr>
          <p:cNvPr id="19" name="Shape 13"/>
          <p:cNvSpPr/>
          <p:nvPr/>
        </p:nvSpPr>
        <p:spPr>
          <a:xfrm>
            <a:off x="6013252" y="1164803"/>
            <a:ext cx="2634555" cy="3449464"/>
          </a:xfrm>
          <a:prstGeom prst="roundRect">
            <a:avLst>
              <a:gd name="adj" fmla="val 706"/>
            </a:avLst>
          </a:prstGeom>
          <a:solidFill>
            <a:srgbClr val="433550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7225" y="1288777"/>
            <a:ext cx="372070" cy="372070"/>
          </a:xfrm>
          <a:prstGeom prst="rect">
            <a:avLst/>
          </a:prstGeom>
        </p:spPr>
      </p:pic>
      <p:pic>
        <p:nvPicPr>
          <p:cNvPr id="2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39545" y="1391022"/>
            <a:ext cx="167432" cy="16743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137225" y="1784821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Eating Food</a:t>
            </a:r>
            <a:endParaRPr lang="en-US" sz="1200"/>
          </a:p>
        </p:txBody>
      </p:sp>
      <p:sp>
        <p:nvSpPr>
          <p:cNvPr id="23" name="Shape 15"/>
          <p:cNvSpPr/>
          <p:nvPr/>
        </p:nvSpPr>
        <p:spPr>
          <a:xfrm>
            <a:off x="6137225" y="2118196"/>
            <a:ext cx="2386608" cy="1438721"/>
          </a:xfrm>
          <a:prstGeom prst="roundRect">
            <a:avLst>
              <a:gd name="adj" fmla="val 1293"/>
            </a:avLst>
          </a:prstGeom>
          <a:solidFill>
            <a:srgbClr val="31233E"/>
          </a:solidFill>
          <a:ln/>
        </p:spPr>
      </p:sp>
      <p:sp>
        <p:nvSpPr>
          <p:cNvPr id="24" name="Shape 16"/>
          <p:cNvSpPr/>
          <p:nvPr/>
        </p:nvSpPr>
        <p:spPr>
          <a:xfrm>
            <a:off x="6131049" y="2118196"/>
            <a:ext cx="2398961" cy="1438721"/>
          </a:xfrm>
          <a:prstGeom prst="roundRect">
            <a:avLst>
              <a:gd name="adj" fmla="val 1293"/>
            </a:avLst>
          </a:prstGeom>
          <a:solidFill>
            <a:srgbClr val="31233E"/>
          </a:solidFill>
          <a:ln/>
        </p:spPr>
      </p:sp>
      <p:sp>
        <p:nvSpPr>
          <p:cNvPr id="25" name="Text 17"/>
          <p:cNvSpPr/>
          <p:nvPr/>
        </p:nvSpPr>
        <p:spPr>
          <a:xfrm>
            <a:off x="6286054" y="2242170"/>
            <a:ext cx="2088952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DAD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x == foodx and y == foody:</a:t>
            </a:r>
            <a:endParaRPr lang="en-US" sz="95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DAD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length += 1</a:t>
            </a:r>
            <a:endParaRPr lang="en-US" sz="95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DAD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foodx = random.randrange(</a:t>
            </a:r>
            <a:endParaRPr lang="en-US" sz="95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DAD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0, width, snake_block)</a:t>
            </a:r>
            <a:endParaRPr lang="en-US" sz="95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DAD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foody = random.randrange(</a:t>
            </a:r>
            <a:endParaRPr lang="en-US" sz="95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DAD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0, height, snake_block)</a:t>
            </a:r>
            <a:endParaRPr lang="en-US" sz="950"/>
          </a:p>
        </p:txBody>
      </p:sp>
      <p:sp>
        <p:nvSpPr>
          <p:cNvPr id="26" name="Text 18"/>
          <p:cNvSpPr/>
          <p:nvPr/>
        </p:nvSpPr>
        <p:spPr>
          <a:xfrm>
            <a:off x="6137225" y="3696444"/>
            <a:ext cx="238660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When the head lands on the food square, </a:t>
            </a:r>
            <a:r>
              <a:rPr lang="en-US" sz="950" b="1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length</a:t>
            </a:r>
            <a:r>
              <a:rPr lang="en-US" sz="95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is incremented and new food is spawned at a random grid-aligned position.</a:t>
            </a:r>
            <a:endParaRPr lang="en-US" sz="9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86349" y="330175"/>
            <a:ext cx="4172992" cy="357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Drawing &amp; Running the Loop</a:t>
            </a:r>
            <a:endParaRPr lang="en-US" sz="2250"/>
          </a:p>
        </p:txBody>
      </p:sp>
      <p:sp>
        <p:nvSpPr>
          <p:cNvPr id="4" name="Text 1"/>
          <p:cNvSpPr/>
          <p:nvPr/>
        </p:nvSpPr>
        <p:spPr>
          <a:xfrm>
            <a:off x="3886349" y="951012"/>
            <a:ext cx="1886620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Render &amp; Tick</a:t>
            </a:r>
            <a:endParaRPr lang="en-US" sz="1100"/>
          </a:p>
        </p:txBody>
      </p:sp>
      <p:sp>
        <p:nvSpPr>
          <p:cNvPr id="5" name="Shape 2"/>
          <p:cNvSpPr/>
          <p:nvPr/>
        </p:nvSpPr>
        <p:spPr>
          <a:xfrm>
            <a:off x="3886349" y="1248221"/>
            <a:ext cx="2514600" cy="2690366"/>
          </a:xfrm>
          <a:prstGeom prst="roundRect">
            <a:avLst>
              <a:gd name="adj" fmla="val 682"/>
            </a:avLst>
          </a:prstGeom>
          <a:solidFill>
            <a:srgbClr val="31233E"/>
          </a:solidFill>
          <a:ln/>
        </p:spPr>
      </p:sp>
      <p:sp>
        <p:nvSpPr>
          <p:cNvPr id="6" name="Shape 3"/>
          <p:cNvSpPr/>
          <p:nvPr/>
        </p:nvSpPr>
        <p:spPr>
          <a:xfrm>
            <a:off x="3880693" y="1248221"/>
            <a:ext cx="2525911" cy="2690366"/>
          </a:xfrm>
          <a:prstGeom prst="roundRect">
            <a:avLst>
              <a:gd name="adj" fmla="val 679"/>
            </a:avLst>
          </a:prstGeom>
          <a:solidFill>
            <a:srgbClr val="31233E"/>
          </a:solidFill>
          <a:ln/>
        </p:spPr>
      </p:sp>
      <p:sp>
        <p:nvSpPr>
          <p:cNvPr id="7" name="Text 4"/>
          <p:cNvSpPr/>
          <p:nvPr/>
        </p:nvSpPr>
        <p:spPr>
          <a:xfrm>
            <a:off x="4023568" y="1362521"/>
            <a:ext cx="2240161" cy="2461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>
                <a:solidFill>
                  <a:srgbClr val="DAD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screen.fill(black)</a:t>
            </a:r>
            <a:endParaRPr lang="en-US" sz="900"/>
          </a:p>
          <a:p>
            <a:pPr marL="0" indent="0" algn="l">
              <a:lnSpc>
                <a:spcPct val="128000"/>
              </a:lnSpc>
              <a:buNone/>
            </a:pPr>
            <a:endParaRPr lang="en-US" sz="90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00">
                <a:solidFill>
                  <a:srgbClr val="DAD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part in snake:</a:t>
            </a:r>
            <a:endParaRPr lang="en-US" sz="90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00">
                <a:solidFill>
                  <a:srgbClr val="DAD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pygame.draw.rect(screen, green,</a:t>
            </a:r>
            <a:endParaRPr lang="en-US" sz="90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00">
                <a:solidFill>
                  <a:srgbClr val="DAD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(*part, snake_block, snake_block))</a:t>
            </a:r>
            <a:endParaRPr lang="en-US" sz="900"/>
          </a:p>
          <a:p>
            <a:pPr marL="0" indent="0" algn="l">
              <a:lnSpc>
                <a:spcPct val="128000"/>
              </a:lnSpc>
              <a:buNone/>
            </a:pPr>
            <a:endParaRPr lang="en-US" sz="90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00">
                <a:solidFill>
                  <a:srgbClr val="DAD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pygame.draw.rect(screen, red,</a:t>
            </a:r>
            <a:endParaRPr lang="en-US" sz="90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00">
                <a:solidFill>
                  <a:srgbClr val="DAD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(foodx, foody, snake_block, snake_block))</a:t>
            </a:r>
            <a:endParaRPr lang="en-US" sz="900"/>
          </a:p>
          <a:p>
            <a:pPr marL="0" indent="0" algn="l">
              <a:lnSpc>
                <a:spcPct val="128000"/>
              </a:lnSpc>
              <a:buNone/>
            </a:pPr>
            <a:endParaRPr lang="en-US" sz="90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00">
                <a:solidFill>
                  <a:srgbClr val="DAD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pygame.display.update()</a:t>
            </a:r>
            <a:endParaRPr lang="en-US" sz="90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00">
                <a:solidFill>
                  <a:srgbClr val="DAD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clock.tick(10)</a:t>
            </a:r>
            <a:endParaRPr lang="en-US" sz="900"/>
          </a:p>
          <a:p>
            <a:pPr marL="0" indent="0" algn="l">
              <a:lnSpc>
                <a:spcPct val="128000"/>
              </a:lnSpc>
              <a:buNone/>
            </a:pPr>
            <a:endParaRPr lang="en-US" sz="90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00">
                <a:solidFill>
                  <a:srgbClr val="DAD1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pygame.quit()</a:t>
            </a:r>
            <a:endParaRPr lang="en-US" sz="900"/>
          </a:p>
        </p:txBody>
      </p:sp>
      <p:sp>
        <p:nvSpPr>
          <p:cNvPr id="8" name="Text 5"/>
          <p:cNvSpPr/>
          <p:nvPr/>
        </p:nvSpPr>
        <p:spPr>
          <a:xfrm>
            <a:off x="6684615" y="951012"/>
            <a:ext cx="1886620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Key Takeaways</a:t>
            </a:r>
            <a:endParaRPr lang="en-US" sz="1100"/>
          </a:p>
        </p:txBody>
      </p:sp>
      <p:sp>
        <p:nvSpPr>
          <p:cNvPr id="9" name="Text 6"/>
          <p:cNvSpPr/>
          <p:nvPr/>
        </p:nvSpPr>
        <p:spPr>
          <a:xfrm>
            <a:off x="6684615" y="1235050"/>
            <a:ext cx="2006724" cy="225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900" b="1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screen.fill(black)</a:t>
            </a:r>
            <a:r>
              <a:rPr lang="en-US" sz="90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clears the previous frame every tick</a:t>
            </a:r>
            <a:endParaRPr lang="en-US" sz="90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900" b="1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draw.rect()</a:t>
            </a:r>
            <a:r>
              <a:rPr lang="en-US" sz="90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renders each 10×10 segment — green for the snake, red for food</a:t>
            </a:r>
            <a:endParaRPr lang="en-US" sz="90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900" b="1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display.update()</a:t>
            </a:r>
            <a:r>
              <a:rPr lang="en-US" sz="90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pushes the frame to the screen</a:t>
            </a:r>
            <a:endParaRPr lang="en-US" sz="90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900" b="1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clock.tick(10)</a:t>
            </a:r>
            <a:r>
              <a:rPr lang="en-US" sz="90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caps the game at </a:t>
            </a:r>
            <a:r>
              <a:rPr lang="en-US" sz="900" b="1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10 frames per second</a:t>
            </a:r>
            <a:r>
              <a:rPr lang="en-US" sz="90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controlling snake speed</a:t>
            </a:r>
            <a:endParaRPr lang="en-US" sz="90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900" b="1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pygame.quit()</a:t>
            </a:r>
            <a:r>
              <a:rPr lang="en-US" sz="90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cleanly shuts down all modules when the loop exits</a:t>
            </a:r>
            <a:endParaRPr lang="en-US" sz="900"/>
          </a:p>
        </p:txBody>
      </p:sp>
      <p:sp>
        <p:nvSpPr>
          <p:cNvPr id="10" name="Shape 7"/>
          <p:cNvSpPr/>
          <p:nvPr/>
        </p:nvSpPr>
        <p:spPr>
          <a:xfrm>
            <a:off x="3886349" y="4175671"/>
            <a:ext cx="4800302" cy="637654"/>
          </a:xfrm>
          <a:prstGeom prst="roundRect">
            <a:avLst>
              <a:gd name="adj" fmla="val 2690"/>
            </a:avLst>
          </a:prstGeom>
          <a:solidFill>
            <a:srgbClr val="183A1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649" y="4342358"/>
            <a:ext cx="142875" cy="1143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57824" y="4309616"/>
            <a:ext cx="4314527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Try increasing </a:t>
            </a:r>
            <a:r>
              <a:rPr lang="en-US" sz="900" b="1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clock.tick()</a:t>
            </a:r>
            <a:r>
              <a:rPr lang="en-US" sz="90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to 15 or 20 to make the snake faster — a great first experiment once the base game is running!</a:t>
            </a:r>
            <a:endParaRPr lang="en-US" sz="90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Application>Microsoft Office PowerPoint</Application>
  <PresentationFormat>On-screen Show (16:9)</PresentationFormat>
  <Slides>8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Mesh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revision>2</cp:revision>
  <dcterms:created xsi:type="dcterms:W3CDTF">2026-05-20T13:02:28Z</dcterms:created>
  <dcterms:modified xsi:type="dcterms:W3CDTF">2026-05-20T16:37:18Z</dcterms:modified>
</cp:coreProperties>
</file>